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FF88F29-3EA2-C1D8-4402-0CF8101EF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0B9EC52-3E98-F10F-BC28-B24D19275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3652FF8-A50B-901B-BD77-3F819D18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DFDA877-8908-D4AD-8DA4-CC9E1201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CAEA7B9-D76B-A4B8-BE34-2EDFD041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202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44B8B8-000A-C588-180C-4096FACE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BB69A93-D129-D945-E9FF-50D797273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CB9E29D-C3DC-8E3C-98F5-A97B3138B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086384F-2F72-08FD-530D-BF3E0CBD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A1EBA27-D8FD-4879-0393-B966BD59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751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27C7B6-5037-0F70-0A0C-CC8045DD7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376FC3E-6F42-EA8D-7B93-8CC89CA40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D39FAAA-C582-E39B-166F-F4DF1FF7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7F6DB0-89E3-3A1C-E22A-DD5CBAF9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9EBB52A-06C0-4959-EA17-D033C981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935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CFB0EF-59EC-C39F-D755-0E56A5B1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35911D-3198-45EC-C578-DCCEEEB54A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767D178-C99F-D8F9-6710-6D5F2AB9E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339A35F-0421-042F-54C5-61B3B857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68DAE04-9413-35B3-B1C3-AA7A84A8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C21477A-2245-6B58-E814-01D0C013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452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1B217B-C672-425A-859D-21C24478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AD161AE-F2A1-5BD8-981A-F3F02383E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609713B-023B-5E89-5BAC-605425179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F05A1D9-5EED-34B0-7D7A-C4AEE1A8D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F8E8684-C7C6-012D-BD47-5356378BB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9869059-4DB8-1CD3-B12D-60BD26F9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D87F37E-4D17-7715-91EF-386E775B4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ED3C381-E061-47A6-1795-7BDEC32A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098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FB0377-A997-6D97-489E-2D93231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3485D08-1852-3B6C-F61F-269F34C2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F71ABE8-B6F6-EE9A-70ED-9A69D953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B762056-F98D-1F33-8204-A2BDFF40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202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080023BB-F0A3-B68E-DC98-209AB59F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89A116D-F265-B987-7F47-7E7FD68FF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CB233CB-493F-5615-561E-679425AB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8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D159DE-9E44-2C47-D444-E52A12FA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A5E0C10-C444-40E2-2EFB-88A96578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6A62D79-9C12-1B1D-4961-D2B13B790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4A4AE4F-B3F6-B938-1344-5516A19C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D5CCC6C-A4A4-CD04-5866-B078174DF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8867A74-BB48-EC35-6E16-1A1F721CA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1869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C47D39-61B3-4A5D-370E-E719A5D6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1450528-7433-06F9-0AA5-DFE048170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6DF77E1-50BD-8D25-CA70-BE60CF5F9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9081379-9536-9A8E-118E-6B96E2B4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2DA836A-6C0D-4416-7B47-1273947EA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0EB304F-11B2-7A75-D12D-C894F7BE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19893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1FDA60-C219-5A3C-6B34-6780B7F6E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3455A0F-A821-07A1-935B-725F36F37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093E822-4857-6BDE-17FA-B7ABB99F8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3828C30-1BF7-EF1D-44C2-2B295D1D7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27D057-0A57-90B1-E511-C1DF56F7E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4458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023E61C-865F-EC75-7EFC-53AE4BFC87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13579DC-CECA-269C-6D08-6763F4E7C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B936C7-DF4D-FB7D-5186-0C1055E8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86C24D5-FBD2-BFD0-D4A5-2AB6A0FA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3401199-A159-DB4E-2794-5B080AC7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88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8E0239C-320E-5906-FD89-BCA64336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0220965-5A45-513F-B082-5286E8096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56C9F15-56C5-4558-2674-9FCEAA0F8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2B08E-0AC3-4ACB-B5D0-B6CA1304F393}" type="datetimeFigureOut">
              <a:rPr lang="tr-TR" smtClean="0"/>
              <a:t>28.07.2025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C71C21D-50E9-BB88-2A47-BAE9A6D9F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5D08135-FEFA-58F9-938F-861852862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5EF31-4945-4F99-923F-59A1034CF70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7542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57A16C-7E57-C314-2E1E-A30D5CD4B3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YAP 470 PROJE SUNUMU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8315A52-6F90-51EC-006D-4697CA0E4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Mehmet Akif APAYDIN</a:t>
            </a:r>
          </a:p>
          <a:p>
            <a:r>
              <a:rPr lang="tr-TR" dirty="0"/>
              <a:t>231101019</a:t>
            </a:r>
          </a:p>
          <a:p>
            <a:r>
              <a:rPr lang="tr-TR" dirty="0"/>
              <a:t>Bilgisayar Mühendisliği</a:t>
            </a:r>
          </a:p>
        </p:txBody>
      </p:sp>
    </p:spTree>
    <p:extLst>
      <p:ext uri="{BB962C8B-B14F-4D97-AF65-F5344CB8AC3E}">
        <p14:creationId xmlns:p14="http://schemas.microsoft.com/office/powerpoint/2010/main" val="1938704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5E8F71-119D-8B44-3A24-CBE9BEDE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Projenin Konusu/Amacı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3382A6-FEA7-5787-FA4D-1C59EC554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dirty="0"/>
              <a:t>Bu projenin amacı, insan yüz görüntülerinden yaş tahmini ve cinsiyet tahmini gerçekleştirmektir. </a:t>
            </a:r>
          </a:p>
          <a:p>
            <a:r>
              <a:rPr lang="tr-TR" sz="2000" dirty="0"/>
              <a:t>Farklı yaş gruplarına ve cinsiyetlere ait büyük yüz veri setleri kullanılarak, hem klasik görüntü işleme ve makine öğrenmesi yöntemleri hem de derin öğrenme modelleri ile performans karşılaştırması yapıldı. </a:t>
            </a:r>
          </a:p>
          <a:p>
            <a:r>
              <a:rPr lang="tr-TR" sz="2000" dirty="0"/>
              <a:t>Model çıktıları üzerinden yaş tahminindeki hata miktarı ve cinsiyet sınıflandırmasındaki doğruluk değerlendirildi. </a:t>
            </a:r>
          </a:p>
        </p:txBody>
      </p:sp>
    </p:spTree>
    <p:extLst>
      <p:ext uri="{BB962C8B-B14F-4D97-AF65-F5344CB8AC3E}">
        <p14:creationId xmlns:p14="http://schemas.microsoft.com/office/powerpoint/2010/main" val="1172924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E9C2F6-54E5-2B68-30FC-407EC378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Veri Setleri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B7107E-E5A5-4E54-6B58-23C12DC34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Veri Seti 1: </a:t>
            </a:r>
            <a:r>
              <a:rPr lang="tr-TR" dirty="0" err="1"/>
              <a:t>UTKFace</a:t>
            </a:r>
            <a:r>
              <a:rPr lang="tr-TR" dirty="0"/>
              <a:t> </a:t>
            </a:r>
            <a:r>
              <a:rPr lang="tr-TR" dirty="0" err="1"/>
              <a:t>Dataset</a:t>
            </a:r>
            <a:r>
              <a:rPr lang="tr-TR" dirty="0"/>
              <a:t> </a:t>
            </a:r>
          </a:p>
          <a:p>
            <a:r>
              <a:rPr lang="tr-TR" sz="2000" dirty="0"/>
              <a:t>İçerik: 20.000+ yüz görüntüsü, her biri yaş, cinsiyet ve etnik köken bilgisi içerir. </a:t>
            </a:r>
          </a:p>
          <a:p>
            <a:r>
              <a:rPr lang="tr-TR" sz="2000" dirty="0"/>
              <a:t>Format: Görseller .jpg formatındadır. Etiket bilgileri dosya adında kodludur (</a:t>
            </a:r>
            <a:r>
              <a:rPr lang="tr-TR" sz="2000" dirty="0" err="1"/>
              <a:t>örn</a:t>
            </a:r>
            <a:r>
              <a:rPr lang="tr-TR" sz="2000" dirty="0"/>
              <a:t>. 24_1_0_20170116174525125.jpg.chip.jpg = yaş: 24, cinsiyet: 1). </a:t>
            </a:r>
          </a:p>
          <a:p>
            <a:r>
              <a:rPr lang="tr-TR" sz="2000" dirty="0"/>
              <a:t>Sınıf Dağılımı: Yaş: 0–116, Cinsiyet: 0 (erkek), 1 (kadın). </a:t>
            </a:r>
          </a:p>
          <a:p>
            <a:r>
              <a:rPr lang="tr-TR" dirty="0"/>
              <a:t>Veri Seti 2: IMDB-WIKI </a:t>
            </a:r>
            <a:r>
              <a:rPr lang="tr-TR" dirty="0" err="1"/>
              <a:t>Dataset</a:t>
            </a:r>
            <a:r>
              <a:rPr lang="tr-TR" dirty="0"/>
              <a:t> </a:t>
            </a:r>
          </a:p>
          <a:p>
            <a:r>
              <a:rPr lang="tr-TR" sz="2000" dirty="0"/>
              <a:t>İçerik: ~500.000 yüz görüntüsü. Yaş ve cinsiyet etiketleri içerir. </a:t>
            </a:r>
          </a:p>
          <a:p>
            <a:r>
              <a:rPr lang="tr-TR" sz="2000" dirty="0"/>
              <a:t>Format: Renkli görüntüler, etiketler JSON dosyası içinde sağlanır. </a:t>
            </a:r>
          </a:p>
          <a:p>
            <a:r>
              <a:rPr lang="tr-TR" sz="2000" dirty="0"/>
              <a:t>Kullanım: </a:t>
            </a:r>
            <a:r>
              <a:rPr lang="tr-TR" sz="2000" dirty="0" err="1"/>
              <a:t>UTKFace</a:t>
            </a:r>
            <a:r>
              <a:rPr lang="tr-TR" sz="2000" dirty="0"/>
              <a:t> ile benzer şekilde yaş ve cinsiyet tahmini için kullanılacaktır.</a:t>
            </a:r>
          </a:p>
        </p:txBody>
      </p:sp>
    </p:spTree>
    <p:extLst>
      <p:ext uri="{BB962C8B-B14F-4D97-AF65-F5344CB8AC3E}">
        <p14:creationId xmlns:p14="http://schemas.microsoft.com/office/powerpoint/2010/main" val="126749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8BBABAF-7336-F118-6321-30E34B98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YÖNTEM 1: KLASİK YÖNTEMLER</a:t>
            </a:r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96319ABA-55D7-BA17-3A7A-23AF3A3D0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664" y="1478153"/>
            <a:ext cx="6754368" cy="4351338"/>
          </a:xfrm>
        </p:spPr>
        <p:txBody>
          <a:bodyPr/>
          <a:lstStyle/>
          <a:p>
            <a:r>
              <a:rPr lang="tr-TR" dirty="0"/>
              <a:t>Resimler HOG ile özniteliklerine ayrılır.</a:t>
            </a:r>
          </a:p>
          <a:p>
            <a:r>
              <a:rPr lang="tr-TR" dirty="0"/>
              <a:t>Ardından, PCA ile boyut indirmesi uygulanır.</a:t>
            </a:r>
          </a:p>
          <a:p>
            <a:r>
              <a:rPr lang="tr-TR" dirty="0"/>
              <a:t>Son olarak, Cinsiyet sınıflandırması için SVM, MLP </a:t>
            </a:r>
            <a:r>
              <a:rPr lang="tr-TR" dirty="0" err="1"/>
              <a:t>Classifier</a:t>
            </a:r>
            <a:r>
              <a:rPr lang="tr-TR" dirty="0"/>
              <a:t>, </a:t>
            </a:r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Forest</a:t>
            </a:r>
            <a:r>
              <a:rPr lang="tr-TR" dirty="0"/>
              <a:t> </a:t>
            </a:r>
            <a:r>
              <a:rPr lang="tr-TR" dirty="0" err="1"/>
              <a:t>Classifier</a:t>
            </a:r>
            <a:r>
              <a:rPr lang="tr-TR" dirty="0"/>
              <a:t> kullanıldı</a:t>
            </a:r>
          </a:p>
          <a:p>
            <a:r>
              <a:rPr lang="tr-TR" dirty="0"/>
              <a:t> Yaş tahmini için SVR, MLP </a:t>
            </a:r>
            <a:r>
              <a:rPr lang="tr-TR" dirty="0" err="1"/>
              <a:t>Regressor</a:t>
            </a:r>
            <a:r>
              <a:rPr lang="tr-TR" dirty="0"/>
              <a:t>, </a:t>
            </a:r>
            <a:r>
              <a:rPr lang="tr-TR" dirty="0" err="1"/>
              <a:t>Random</a:t>
            </a:r>
            <a:r>
              <a:rPr lang="tr-TR" dirty="0"/>
              <a:t> </a:t>
            </a:r>
            <a:r>
              <a:rPr lang="tr-TR" dirty="0" err="1"/>
              <a:t>Forest</a:t>
            </a:r>
            <a:r>
              <a:rPr lang="tr-TR" dirty="0"/>
              <a:t> </a:t>
            </a:r>
            <a:r>
              <a:rPr lang="tr-TR" dirty="0" err="1"/>
              <a:t>Regressor</a:t>
            </a:r>
            <a:r>
              <a:rPr lang="tr-TR" dirty="0"/>
              <a:t> kullanıldı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1716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AEE375-B5A5-1252-46FA-BA2C4806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graphicFrame>
        <p:nvGraphicFramePr>
          <p:cNvPr id="7" name="İçerik Yer Tutucusu 6">
            <a:extLst>
              <a:ext uri="{FF2B5EF4-FFF2-40B4-BE49-F238E27FC236}">
                <a16:creationId xmlns:a16="http://schemas.microsoft.com/office/drawing/2014/main" id="{3464D2C0-DCC7-9376-9DB0-02EB0D21B5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299748"/>
              </p:ext>
            </p:extLst>
          </p:nvPr>
        </p:nvGraphicFramePr>
        <p:xfrm>
          <a:off x="838200" y="1825625"/>
          <a:ext cx="9013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SVM/SVR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18.64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21.74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2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18.61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477232"/>
                  </a:ext>
                </a:extLst>
              </a:tr>
            </a:tbl>
          </a:graphicData>
        </a:graphic>
      </p:graphicFrame>
      <p:graphicFrame>
        <p:nvGraphicFramePr>
          <p:cNvPr id="8" name="Tablo 7">
            <a:extLst>
              <a:ext uri="{FF2B5EF4-FFF2-40B4-BE49-F238E27FC236}">
                <a16:creationId xmlns:a16="http://schemas.microsoft.com/office/drawing/2014/main" id="{8F7EDD08-CB9F-1A4A-2E61-2948732AC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230255"/>
              </p:ext>
            </p:extLst>
          </p:nvPr>
        </p:nvGraphicFramePr>
        <p:xfrm>
          <a:off x="838200" y="3549016"/>
          <a:ext cx="9013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373839155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88192483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554503947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416553891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50538506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36719077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4143790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17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/>
                        <a:t>SVM/SVR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10.94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12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12.83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16.23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110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11.42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57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41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B10DA9-C9D3-F0DB-A1AE-B0F27885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776E98-8021-3AC2-762D-ACEE226E6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graphicFrame>
        <p:nvGraphicFramePr>
          <p:cNvPr id="4" name="İçerik Yer Tutucusu 6">
            <a:extLst>
              <a:ext uri="{FF2B5EF4-FFF2-40B4-BE49-F238E27FC236}">
                <a16:creationId xmlns:a16="http://schemas.microsoft.com/office/drawing/2014/main" id="{D77094E5-1DFC-93B0-6FA1-438A187324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636682"/>
              </p:ext>
            </p:extLst>
          </p:nvPr>
        </p:nvGraphicFramePr>
        <p:xfrm>
          <a:off x="838200" y="1825625"/>
          <a:ext cx="9013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SVM/SVR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12.74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22.04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2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0.624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477232"/>
                  </a:ext>
                </a:extLst>
              </a:tr>
            </a:tbl>
          </a:graphicData>
        </a:graphic>
      </p:graphicFrame>
      <p:graphicFrame>
        <p:nvGraphicFramePr>
          <p:cNvPr id="5" name="İçerik Yer Tutucusu 6">
            <a:extLst>
              <a:ext uri="{FF2B5EF4-FFF2-40B4-BE49-F238E27FC236}">
                <a16:creationId xmlns:a16="http://schemas.microsoft.com/office/drawing/2014/main" id="{651458DB-CA58-3C14-3DA9-65B3C43E5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9763669"/>
              </p:ext>
            </p:extLst>
          </p:nvPr>
        </p:nvGraphicFramePr>
        <p:xfrm>
          <a:off x="838200" y="3549016"/>
          <a:ext cx="9013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SVM/SVR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13.80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16.83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2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11.30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14.32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47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134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39BA5AC-6459-1F11-6EB6-480845D3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4E11AE-2298-204E-7207-75A173A38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6">
            <a:extLst>
              <a:ext uri="{FF2B5EF4-FFF2-40B4-BE49-F238E27FC236}">
                <a16:creationId xmlns:a16="http://schemas.microsoft.com/office/drawing/2014/main" id="{3EB1DEEC-8CEC-A35F-33B3-0A85DFF039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3093926"/>
              </p:ext>
            </p:extLst>
          </p:nvPr>
        </p:nvGraphicFramePr>
        <p:xfrm>
          <a:off x="838200" y="1825625"/>
          <a:ext cx="9013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SVM/SVR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12.64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12.64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21.55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27.52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2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0.602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18.58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477232"/>
                  </a:ext>
                </a:extLst>
              </a:tr>
            </a:tbl>
          </a:graphicData>
        </a:graphic>
      </p:graphicFrame>
      <p:graphicFrame>
        <p:nvGraphicFramePr>
          <p:cNvPr id="6" name="İçerik Yer Tutucusu 6">
            <a:extLst>
              <a:ext uri="{FF2B5EF4-FFF2-40B4-BE49-F238E27FC236}">
                <a16:creationId xmlns:a16="http://schemas.microsoft.com/office/drawing/2014/main" id="{4AE5E985-BA5D-2648-3D76-B487038BD4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518008"/>
              </p:ext>
            </p:extLst>
          </p:nvPr>
        </p:nvGraphicFramePr>
        <p:xfrm>
          <a:off x="838200" y="3549016"/>
          <a:ext cx="90133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SVM/SVR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16.03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20.32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02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11.48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14.49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47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254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DC38BA3-27EA-AF6D-059D-4620E387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YÖNTEM 2: CNN</a:t>
            </a:r>
          </a:p>
        </p:txBody>
      </p:sp>
      <p:pic>
        <p:nvPicPr>
          <p:cNvPr id="5" name="İçerik Yer Tutucusu 4" descr="metin, ekran görüntüsü, yazıl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22BA618-8615-B346-74C0-A1CC389E5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0084" y="643466"/>
            <a:ext cx="335516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E8DFE6-6A1F-6A6E-CADB-4473DC52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D12C5C9-2899-580C-4F80-3244AAD86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graphicFrame>
        <p:nvGraphicFramePr>
          <p:cNvPr id="4" name="İçerik Yer Tutucusu 6">
            <a:extLst>
              <a:ext uri="{FF2B5EF4-FFF2-40B4-BE49-F238E27FC236}">
                <a16:creationId xmlns:a16="http://schemas.microsoft.com/office/drawing/2014/main" id="{35FE92B6-333F-A1CC-0664-A2FF5AFD90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2353336"/>
              </p:ext>
            </p:extLst>
          </p:nvPr>
        </p:nvGraphicFramePr>
        <p:xfrm>
          <a:off x="838200" y="1825625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10.09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13.65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  <p:graphicFrame>
        <p:nvGraphicFramePr>
          <p:cNvPr id="5" name="İçerik Yer Tutucusu 6">
            <a:extLst>
              <a:ext uri="{FF2B5EF4-FFF2-40B4-BE49-F238E27FC236}">
                <a16:creationId xmlns:a16="http://schemas.microsoft.com/office/drawing/2014/main" id="{EF66DB18-46BE-A019-9D9C-1D4531E31B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0612137"/>
              </p:ext>
            </p:extLst>
          </p:nvPr>
        </p:nvGraphicFramePr>
        <p:xfrm>
          <a:off x="838200" y="3429000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11.79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79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D677AF-869B-F9BD-2521-A2AFD656B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DADFD8-0ECB-EA8C-EE93-B1EE02E24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graphicFrame>
        <p:nvGraphicFramePr>
          <p:cNvPr id="4" name="İçerik Yer Tutucusu 6">
            <a:extLst>
              <a:ext uri="{FF2B5EF4-FFF2-40B4-BE49-F238E27FC236}">
                <a16:creationId xmlns:a16="http://schemas.microsoft.com/office/drawing/2014/main" id="{6494AC56-45BC-F3D7-4284-F0F8580AFC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2182853"/>
              </p:ext>
            </p:extLst>
          </p:nvPr>
        </p:nvGraphicFramePr>
        <p:xfrm>
          <a:off x="838200" y="1825625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15.93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  <p:graphicFrame>
        <p:nvGraphicFramePr>
          <p:cNvPr id="5" name="İçerik Yer Tutucusu 6">
            <a:extLst>
              <a:ext uri="{FF2B5EF4-FFF2-40B4-BE49-F238E27FC236}">
                <a16:creationId xmlns:a16="http://schemas.microsoft.com/office/drawing/2014/main" id="{C5926D3D-EFD0-0315-D70E-F506F69C9B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4835920"/>
              </p:ext>
            </p:extLst>
          </p:nvPr>
        </p:nvGraphicFramePr>
        <p:xfrm>
          <a:off x="838200" y="3429000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11.86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96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B92D8E0-5D03-ADB3-C9E3-51221748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AC66F8-C175-35DF-9791-B89222229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graphicFrame>
        <p:nvGraphicFramePr>
          <p:cNvPr id="8" name="İçerik Yer Tutucusu 6">
            <a:extLst>
              <a:ext uri="{FF2B5EF4-FFF2-40B4-BE49-F238E27FC236}">
                <a16:creationId xmlns:a16="http://schemas.microsoft.com/office/drawing/2014/main" id="{DDF8BBB4-5ED1-300F-4F43-9DD8965435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4507288"/>
              </p:ext>
            </p:extLst>
          </p:nvPr>
        </p:nvGraphicFramePr>
        <p:xfrm>
          <a:off x="838200" y="1825625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12.56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  <p:graphicFrame>
        <p:nvGraphicFramePr>
          <p:cNvPr id="9" name="İçerik Yer Tutucusu 6">
            <a:extLst>
              <a:ext uri="{FF2B5EF4-FFF2-40B4-BE49-F238E27FC236}">
                <a16:creationId xmlns:a16="http://schemas.microsoft.com/office/drawing/2014/main" id="{B4E2BD35-D427-62FE-DCB6-507926153B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4393877"/>
              </p:ext>
            </p:extLst>
          </p:nvPr>
        </p:nvGraphicFramePr>
        <p:xfrm>
          <a:off x="838200" y="3429000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11.71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169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2884DF-2AEF-6082-EA38-D26E8E11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AEB796A-237D-4EB1-1034-A3EDAB71C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graphicFrame>
        <p:nvGraphicFramePr>
          <p:cNvPr id="4" name="İçerik Yer Tutucusu 6">
            <a:extLst>
              <a:ext uri="{FF2B5EF4-FFF2-40B4-BE49-F238E27FC236}">
                <a16:creationId xmlns:a16="http://schemas.microsoft.com/office/drawing/2014/main" id="{57D55629-AA4A-A20B-443E-E5DCA4051B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1953630"/>
              </p:ext>
            </p:extLst>
          </p:nvPr>
        </p:nvGraphicFramePr>
        <p:xfrm>
          <a:off x="838200" y="1825625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13.20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  <p:graphicFrame>
        <p:nvGraphicFramePr>
          <p:cNvPr id="5" name="İçerik Yer Tutucusu 6">
            <a:extLst>
              <a:ext uri="{FF2B5EF4-FFF2-40B4-BE49-F238E27FC236}">
                <a16:creationId xmlns:a16="http://schemas.microsoft.com/office/drawing/2014/main" id="{B83BAECA-2828-2D19-9806-9412007B46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9133268"/>
              </p:ext>
            </p:extLst>
          </p:nvPr>
        </p:nvGraphicFramePr>
        <p:xfrm>
          <a:off x="838200" y="3429000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0.745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11.82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521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FED540-C6E9-215E-28C6-05ED7D07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67D9C1-E91B-425A-6C5F-30E3141E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graphicFrame>
        <p:nvGraphicFramePr>
          <p:cNvPr id="4" name="İçerik Yer Tutucusu 6">
            <a:extLst>
              <a:ext uri="{FF2B5EF4-FFF2-40B4-BE49-F238E27FC236}">
                <a16:creationId xmlns:a16="http://schemas.microsoft.com/office/drawing/2014/main" id="{5A88C321-D730-4AA0-6812-F50A0F211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453959"/>
              </p:ext>
            </p:extLst>
          </p:nvPr>
        </p:nvGraphicFramePr>
        <p:xfrm>
          <a:off x="838200" y="1825625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0.753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9.41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12.87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  <p:graphicFrame>
        <p:nvGraphicFramePr>
          <p:cNvPr id="5" name="İçerik Yer Tutucusu 6">
            <a:extLst>
              <a:ext uri="{FF2B5EF4-FFF2-40B4-BE49-F238E27FC236}">
                <a16:creationId xmlns:a16="http://schemas.microsoft.com/office/drawing/2014/main" id="{64997708-5D87-617E-D9F8-67549DA688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179570"/>
              </p:ext>
            </p:extLst>
          </p:nvPr>
        </p:nvGraphicFramePr>
        <p:xfrm>
          <a:off x="838200" y="3429000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12.77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249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717B943-9AF4-081F-2C01-C1ABEA18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7758F9-2E3F-4B8C-A336-FA265A133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graphicFrame>
        <p:nvGraphicFramePr>
          <p:cNvPr id="6" name="İçerik Yer Tutucusu 6">
            <a:extLst>
              <a:ext uri="{FF2B5EF4-FFF2-40B4-BE49-F238E27FC236}">
                <a16:creationId xmlns:a16="http://schemas.microsoft.com/office/drawing/2014/main" id="{65750A66-B4E8-0576-0CF6-F29C310AE2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4971344"/>
              </p:ext>
            </p:extLst>
          </p:nvPr>
        </p:nvGraphicFramePr>
        <p:xfrm>
          <a:off x="838200" y="1825625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0.786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10.12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13.62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  <p:graphicFrame>
        <p:nvGraphicFramePr>
          <p:cNvPr id="7" name="İçerik Yer Tutucusu 6">
            <a:extLst>
              <a:ext uri="{FF2B5EF4-FFF2-40B4-BE49-F238E27FC236}">
                <a16:creationId xmlns:a16="http://schemas.microsoft.com/office/drawing/2014/main" id="{35DC8208-85F0-14AF-16C0-A160FBB17C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0436955"/>
              </p:ext>
            </p:extLst>
          </p:nvPr>
        </p:nvGraphicFramePr>
        <p:xfrm>
          <a:off x="838200" y="3429000"/>
          <a:ext cx="90133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624">
                  <a:extLst>
                    <a:ext uri="{9D8B030D-6E8A-4147-A177-3AD203B41FA5}">
                      <a16:colId xmlns:a16="http://schemas.microsoft.com/office/drawing/2014/main" val="211369485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954631896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18248118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754786792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1422580159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2663341794"/>
                    </a:ext>
                  </a:extLst>
                </a:gridCol>
                <a:gridCol w="1287624">
                  <a:extLst>
                    <a:ext uri="{9D8B030D-6E8A-4147-A177-3AD203B41FA5}">
                      <a16:colId xmlns:a16="http://schemas.microsoft.com/office/drawing/2014/main" val="3821315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dirty="0" err="1"/>
                        <a:t>Accuracy</a:t>
                      </a:r>
                      <a:endParaRPr lang="tr-T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/>
                        <a:t>Recall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562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0.748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0.757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0.804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8.99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11.80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49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310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569</Words>
  <Application>Microsoft Office PowerPoint</Application>
  <PresentationFormat>Geniş ekran</PresentationFormat>
  <Paragraphs>341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Teması</vt:lpstr>
      <vt:lpstr>YAP 470 PROJE SUNUMU</vt:lpstr>
      <vt:lpstr>Projenin Konusu/Amacı</vt:lpstr>
      <vt:lpstr>Veri Setleri</vt:lpstr>
      <vt:lpstr>YÖNTEM 1: KLASİK YÖNTEMLER</vt:lpstr>
      <vt:lpstr>PowerPoint Sunusu</vt:lpstr>
      <vt:lpstr>PowerPoint Sunusu</vt:lpstr>
      <vt:lpstr>PowerPoint Sunusu</vt:lpstr>
      <vt:lpstr>YÖNTEM 2: CNN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Akif APAYDIN</dc:creator>
  <cp:lastModifiedBy>Mehmet Akif APAYDIN</cp:lastModifiedBy>
  <cp:revision>1</cp:revision>
  <dcterms:created xsi:type="dcterms:W3CDTF">2025-07-28T16:29:18Z</dcterms:created>
  <dcterms:modified xsi:type="dcterms:W3CDTF">2025-07-28T20:41:34Z</dcterms:modified>
</cp:coreProperties>
</file>